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Marcellus" panose="020E0602050203020307" pitchFamily="34" charset="0"/>
      <p:regular r:id="rId16"/>
    </p:embeddedFont>
    <p:embeddedFont>
      <p:font typeface="Raleway" pitchFamily="2" charset="0"/>
      <p:bold r:id="rId17"/>
      <p:boldItalic r:id="rId18"/>
    </p:embeddedFont>
    <p:embeddedFont>
      <p:font typeface="Roboto" panose="02000000000000000000" pitchFamily="2" charset="0"/>
      <p:bold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iMJNaWk2rEidRnUURhObLW2wca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226" y="36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24384" y="-14312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6EA">
              <a:alpha val="89803"/>
            </a:srgbClr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86" name="Google Shape;86;p1"/>
          <p:cNvGrpSpPr/>
          <p:nvPr/>
        </p:nvGrpSpPr>
        <p:grpSpPr>
          <a:xfrm>
            <a:off x="596160" y="586207"/>
            <a:ext cx="6404941" cy="8610232"/>
            <a:chOff x="0" y="0"/>
            <a:chExt cx="3662687" cy="4923790"/>
          </a:xfrm>
        </p:grpSpPr>
        <p:sp>
          <p:nvSpPr>
            <p:cNvPr id="87" name="Google Shape;87;p1"/>
            <p:cNvSpPr/>
            <p:nvPr/>
          </p:nvSpPr>
          <p:spPr>
            <a:xfrm>
              <a:off x="31750" y="31750"/>
              <a:ext cx="3600450" cy="4859020"/>
            </a:xfrm>
            <a:custGeom>
              <a:avLst/>
              <a:gdLst/>
              <a:ahLst/>
              <a:cxnLst/>
              <a:rect l="l" t="t" r="r" b="b"/>
              <a:pathLst>
                <a:path w="3600450" h="4859020" extrusionOk="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t="-2204" r="-45985" b="-5967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0" y="0"/>
              <a:ext cx="3662687" cy="4923790"/>
            </a:xfrm>
            <a:custGeom>
              <a:avLst/>
              <a:gdLst/>
              <a:ahLst/>
              <a:cxnLst/>
              <a:rect l="l" t="t" r="r" b="b"/>
              <a:pathLst>
                <a:path w="3662687" h="4923790" extrusionOk="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FFF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1"/>
          <p:cNvSpPr txBox="1"/>
          <p:nvPr/>
        </p:nvSpPr>
        <p:spPr>
          <a:xfrm>
            <a:off x="7812462" y="2186721"/>
            <a:ext cx="10251653" cy="180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1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0" i="0" u="none" strike="noStrike" cap="none">
                <a:solidFill>
                  <a:srgbClr val="1B1B27"/>
                </a:solidFill>
                <a:latin typeface="Marcellus"/>
                <a:ea typeface="Marcellus"/>
                <a:cs typeface="Marcellus"/>
                <a:sym typeface="Marcellus"/>
              </a:rPr>
              <a:t>Pulse: A Linux Process Manager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9144000" y="5605103"/>
            <a:ext cx="3535680" cy="2746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Presentation by:</a:t>
            </a:r>
            <a:endParaRPr dirty="0"/>
          </a:p>
          <a:p>
            <a:pPr marL="0" marR="0" lvl="0" indent="0" algn="l" rtl="0">
              <a:lnSpc>
                <a:spcPct val="1187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Sajib Sarkar</a:t>
            </a:r>
            <a:endParaRPr dirty="0"/>
          </a:p>
          <a:p>
            <a:pPr marL="0" marR="0" lvl="0" indent="0" algn="l" rtl="0">
              <a:lnSpc>
                <a:spcPct val="1187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Roll No. 1616</a:t>
            </a:r>
            <a:endParaRPr dirty="0"/>
          </a:p>
          <a:p>
            <a:pPr marL="0" marR="0" lvl="0" indent="0" algn="l" rtl="0">
              <a:lnSpc>
                <a:spcPct val="11873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dirty="0">
              <a:solidFill>
                <a:srgbClr val="3C393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873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dirty="0">
              <a:solidFill>
                <a:srgbClr val="3C393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9144000" y="7985300"/>
            <a:ext cx="57861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Project Lab-1</a:t>
            </a:r>
            <a:endParaRPr sz="3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A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ECECF3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2"/>
          <p:cNvSpPr/>
          <p:nvPr/>
        </p:nvSpPr>
        <p:spPr>
          <a:xfrm>
            <a:off x="37204" y="8944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6EA">
              <a:alpha val="89803"/>
            </a:srgbClr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2"/>
          <p:cNvSpPr txBox="1"/>
          <p:nvPr/>
        </p:nvSpPr>
        <p:spPr>
          <a:xfrm>
            <a:off x="992238" y="1967951"/>
            <a:ext cx="7806000" cy="19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7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62" b="1" i="0" u="none" strike="noStrike" cap="non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The </a:t>
            </a:r>
            <a:r>
              <a:rPr lang="en-US" sz="5562" b="1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Cons of Current Options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9499397" y="1967951"/>
            <a:ext cx="68019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7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62" b="1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Our</a:t>
            </a:r>
            <a:r>
              <a:rPr lang="en-US" sz="5562" b="1" i="0" u="none" strike="noStrike" cap="non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 Approach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992238" y="4652645"/>
            <a:ext cx="8140800" cy="3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04523" marR="0" lvl="1" indent="-302261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Traditional tools like top, htop flood users with fragmented, raw metrics.</a:t>
            </a:r>
            <a:endParaRPr/>
          </a:p>
          <a:p>
            <a:pPr marL="604523" marR="0" lvl="1" indent="-302261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These unreadable metrics make identifying the core happening tough for users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9499397" y="4500906"/>
            <a:ext cx="8140740" cy="1976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04523" marR="0" lvl="1" indent="-302261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Pulse introduces user-friendly metrics that are easy to follow</a:t>
            </a:r>
            <a:endParaRPr/>
          </a:p>
          <a:p>
            <a:pPr marL="604523" marR="0" lvl="1" indent="-302261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Our process aggregation combines thousand of process data into the boundaries of apps.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A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ECECF3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3"/>
          <p:cNvSpPr/>
          <p:nvPr/>
        </p:nvSpPr>
        <p:spPr>
          <a:xfrm>
            <a:off x="-76" y="5610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6EA">
              <a:alpha val="89803"/>
            </a:srgbClr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3"/>
          <p:cNvSpPr txBox="1"/>
          <p:nvPr/>
        </p:nvSpPr>
        <p:spPr>
          <a:xfrm>
            <a:off x="992238" y="1833115"/>
            <a:ext cx="12299791" cy="8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7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62" b="1" i="0" u="none" strike="noStrike" cap="non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Core Features: The Pulse Ecosystem</a:t>
            </a:r>
            <a:endParaRPr/>
          </a:p>
        </p:txBody>
      </p:sp>
      <p:grpSp>
        <p:nvGrpSpPr>
          <p:cNvPr id="109" name="Google Shape;109;p3"/>
          <p:cNvGrpSpPr/>
          <p:nvPr/>
        </p:nvGrpSpPr>
        <p:grpSpPr>
          <a:xfrm>
            <a:off x="987476" y="3309938"/>
            <a:ext cx="16313086" cy="5119973"/>
            <a:chOff x="0" y="0"/>
            <a:chExt cx="21750782" cy="6826631"/>
          </a:xfrm>
        </p:grpSpPr>
        <p:sp>
          <p:nvSpPr>
            <p:cNvPr id="110" name="Google Shape;110;p3"/>
            <p:cNvSpPr/>
            <p:nvPr/>
          </p:nvSpPr>
          <p:spPr>
            <a:xfrm>
              <a:off x="6350" y="6350"/>
              <a:ext cx="21738082" cy="6813931"/>
            </a:xfrm>
            <a:custGeom>
              <a:avLst/>
              <a:gdLst/>
              <a:ahLst/>
              <a:cxnLst/>
              <a:rect l="l" t="t" r="r" b="b"/>
              <a:pathLst>
                <a:path w="21738082" h="6813931" extrusionOk="0">
                  <a:moveTo>
                    <a:pt x="0" y="158750"/>
                  </a:moveTo>
                  <a:cubicBezTo>
                    <a:pt x="0" y="71120"/>
                    <a:pt x="71120" y="0"/>
                    <a:pt x="159004" y="0"/>
                  </a:cubicBezTo>
                  <a:lnTo>
                    <a:pt x="21579078" y="0"/>
                  </a:lnTo>
                  <a:cubicBezTo>
                    <a:pt x="21666836" y="0"/>
                    <a:pt x="21738082" y="71120"/>
                    <a:pt x="21738082" y="158750"/>
                  </a:cubicBezTo>
                  <a:lnTo>
                    <a:pt x="21738082" y="6655181"/>
                  </a:lnTo>
                  <a:cubicBezTo>
                    <a:pt x="21738082" y="6742812"/>
                    <a:pt x="21666963" y="6813931"/>
                    <a:pt x="21579078" y="6813931"/>
                  </a:cubicBezTo>
                  <a:lnTo>
                    <a:pt x="159004" y="6813931"/>
                  </a:lnTo>
                  <a:cubicBezTo>
                    <a:pt x="71120" y="6813931"/>
                    <a:pt x="0" y="6742811"/>
                    <a:pt x="0" y="6655181"/>
                  </a:cubicBezTo>
                  <a:close/>
                </a:path>
              </a:pathLst>
            </a:custGeom>
            <a:solidFill>
              <a:srgbClr val="E1E1EA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0" y="0"/>
              <a:ext cx="21750782" cy="6826631"/>
            </a:xfrm>
            <a:custGeom>
              <a:avLst/>
              <a:gdLst/>
              <a:ahLst/>
              <a:cxnLst/>
              <a:rect l="l" t="t" r="r" b="b"/>
              <a:pathLst>
                <a:path w="21750782" h="6826631" extrusionOk="0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21585428" y="0"/>
                  </a:lnTo>
                  <a:lnTo>
                    <a:pt x="21585428" y="6350"/>
                  </a:lnTo>
                  <a:lnTo>
                    <a:pt x="21585428" y="0"/>
                  </a:lnTo>
                  <a:cubicBezTo>
                    <a:pt x="21676742" y="0"/>
                    <a:pt x="21750782" y="73914"/>
                    <a:pt x="21750782" y="165100"/>
                  </a:cubicBezTo>
                  <a:lnTo>
                    <a:pt x="21744432" y="165100"/>
                  </a:lnTo>
                  <a:lnTo>
                    <a:pt x="21750782" y="165100"/>
                  </a:lnTo>
                  <a:lnTo>
                    <a:pt x="21750782" y="6661531"/>
                  </a:lnTo>
                  <a:lnTo>
                    <a:pt x="21744432" y="6661531"/>
                  </a:lnTo>
                  <a:lnTo>
                    <a:pt x="21750782" y="6661531"/>
                  </a:lnTo>
                  <a:cubicBezTo>
                    <a:pt x="21750782" y="6752717"/>
                    <a:pt x="21676742" y="6826631"/>
                    <a:pt x="21585428" y="6826631"/>
                  </a:cubicBezTo>
                  <a:lnTo>
                    <a:pt x="21585428" y="6820281"/>
                  </a:lnTo>
                  <a:lnTo>
                    <a:pt x="21585428" y="6826631"/>
                  </a:lnTo>
                  <a:lnTo>
                    <a:pt x="165354" y="6826631"/>
                  </a:lnTo>
                  <a:lnTo>
                    <a:pt x="165354" y="6820281"/>
                  </a:lnTo>
                  <a:lnTo>
                    <a:pt x="165354" y="6826631"/>
                  </a:lnTo>
                  <a:cubicBezTo>
                    <a:pt x="74041" y="6826631"/>
                    <a:pt x="0" y="6752717"/>
                    <a:pt x="0" y="6661531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661531"/>
                  </a:lnTo>
                  <a:lnTo>
                    <a:pt x="6350" y="6661531"/>
                  </a:lnTo>
                  <a:lnTo>
                    <a:pt x="12700" y="6661531"/>
                  </a:lnTo>
                  <a:cubicBezTo>
                    <a:pt x="12700" y="6745732"/>
                    <a:pt x="81026" y="6813931"/>
                    <a:pt x="165354" y="6813931"/>
                  </a:cubicBezTo>
                  <a:lnTo>
                    <a:pt x="21585428" y="6813931"/>
                  </a:lnTo>
                  <a:cubicBezTo>
                    <a:pt x="21669756" y="6813931"/>
                    <a:pt x="21738082" y="6745732"/>
                    <a:pt x="21738082" y="6661531"/>
                  </a:cubicBezTo>
                  <a:lnTo>
                    <a:pt x="21738082" y="165100"/>
                  </a:lnTo>
                  <a:cubicBezTo>
                    <a:pt x="21738082" y="80899"/>
                    <a:pt x="21669756" y="12700"/>
                    <a:pt x="21585428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7C7D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" name="Google Shape;112;p3"/>
          <p:cNvSpPr/>
          <p:nvPr/>
        </p:nvSpPr>
        <p:spPr>
          <a:xfrm>
            <a:off x="1001763" y="3324225"/>
            <a:ext cx="5428012" cy="3004089"/>
          </a:xfrm>
          <a:custGeom>
            <a:avLst/>
            <a:gdLst/>
            <a:ahLst/>
            <a:cxnLst/>
            <a:rect l="l" t="t" r="r" b="b"/>
            <a:pathLst>
              <a:path w="7237349" h="4005453" extrusionOk="0">
                <a:moveTo>
                  <a:pt x="0" y="158750"/>
                </a:moveTo>
                <a:cubicBezTo>
                  <a:pt x="0" y="71120"/>
                  <a:pt x="71120" y="0"/>
                  <a:pt x="158750" y="0"/>
                </a:cubicBezTo>
                <a:lnTo>
                  <a:pt x="7078599" y="0"/>
                </a:lnTo>
                <a:cubicBezTo>
                  <a:pt x="7166229" y="0"/>
                  <a:pt x="7237349" y="71120"/>
                  <a:pt x="7237349" y="158750"/>
                </a:cubicBezTo>
                <a:lnTo>
                  <a:pt x="7237349" y="3846703"/>
                </a:lnTo>
                <a:cubicBezTo>
                  <a:pt x="7237349" y="3934333"/>
                  <a:pt x="7166229" y="4005453"/>
                  <a:pt x="7078599" y="4005453"/>
                </a:cubicBezTo>
                <a:lnTo>
                  <a:pt x="158750" y="4005453"/>
                </a:lnTo>
                <a:cubicBezTo>
                  <a:pt x="71120" y="4005453"/>
                  <a:pt x="0" y="3934333"/>
                  <a:pt x="0" y="3846703"/>
                </a:cubicBezTo>
                <a:close/>
              </a:path>
            </a:pathLst>
          </a:custGeom>
          <a:solidFill>
            <a:srgbClr val="E1E1EA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1285284" y="3579171"/>
            <a:ext cx="4086066" cy="439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 b="1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Non-Intrusive Extraction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1285284" y="4125516"/>
            <a:ext cx="4435821" cy="1919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7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Directly reads from the /proc filesystem, minimizing system overhead and avoiding kernel module dependencies.</a:t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6429823" y="3324225"/>
            <a:ext cx="5428202" cy="3004089"/>
          </a:xfrm>
          <a:custGeom>
            <a:avLst/>
            <a:gdLst/>
            <a:ahLst/>
            <a:cxnLst/>
            <a:rect l="l" t="t" r="r" b="b"/>
            <a:pathLst>
              <a:path w="7237603" h="4005453" extrusionOk="0">
                <a:moveTo>
                  <a:pt x="0" y="0"/>
                </a:moveTo>
                <a:lnTo>
                  <a:pt x="7237603" y="0"/>
                </a:lnTo>
                <a:lnTo>
                  <a:pt x="7237603" y="4005453"/>
                </a:lnTo>
                <a:lnTo>
                  <a:pt x="0" y="4005453"/>
                </a:lnTo>
                <a:close/>
              </a:path>
            </a:pathLst>
          </a:custGeom>
          <a:solidFill>
            <a:srgbClr val="E1E1EA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3"/>
          <p:cNvSpPr/>
          <p:nvPr/>
        </p:nvSpPr>
        <p:spPr>
          <a:xfrm>
            <a:off x="6429823" y="3324225"/>
            <a:ext cx="38100" cy="3004089"/>
          </a:xfrm>
          <a:custGeom>
            <a:avLst/>
            <a:gdLst/>
            <a:ahLst/>
            <a:cxnLst/>
            <a:rect l="l" t="t" r="r" b="b"/>
            <a:pathLst>
              <a:path w="50800" h="4005453" extrusionOk="0">
                <a:moveTo>
                  <a:pt x="0" y="25400"/>
                </a:moveTo>
                <a:cubicBezTo>
                  <a:pt x="0" y="11430"/>
                  <a:pt x="11430" y="0"/>
                  <a:pt x="25400" y="0"/>
                </a:cubicBezTo>
                <a:cubicBezTo>
                  <a:pt x="39370" y="0"/>
                  <a:pt x="50800" y="11430"/>
                  <a:pt x="50800" y="25400"/>
                </a:cubicBezTo>
                <a:lnTo>
                  <a:pt x="50800" y="3980053"/>
                </a:lnTo>
                <a:cubicBezTo>
                  <a:pt x="50800" y="3994023"/>
                  <a:pt x="39370" y="4005453"/>
                  <a:pt x="25400" y="4005453"/>
                </a:cubicBezTo>
                <a:cubicBezTo>
                  <a:pt x="11430" y="4005453"/>
                  <a:pt x="0" y="3994023"/>
                  <a:pt x="0" y="3980053"/>
                </a:cubicBezTo>
                <a:close/>
              </a:path>
            </a:pathLst>
          </a:custGeom>
          <a:solidFill>
            <a:srgbClr val="C7C7D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7138540" y="3579171"/>
            <a:ext cx="3402171" cy="439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 b="1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Efficient Calculation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7138540" y="4125516"/>
            <a:ext cx="4010768" cy="190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7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Utilizes a sliding window approach for CPU metrics, providing precise, real-time performance insights.</a:t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11858034" y="3324225"/>
            <a:ext cx="5428202" cy="3004089"/>
          </a:xfrm>
          <a:custGeom>
            <a:avLst/>
            <a:gdLst/>
            <a:ahLst/>
            <a:cxnLst/>
            <a:rect l="l" t="t" r="r" b="b"/>
            <a:pathLst>
              <a:path w="7237603" h="4005453" extrusionOk="0">
                <a:moveTo>
                  <a:pt x="0" y="0"/>
                </a:moveTo>
                <a:lnTo>
                  <a:pt x="7237603" y="0"/>
                </a:lnTo>
                <a:lnTo>
                  <a:pt x="7237603" y="4005453"/>
                </a:lnTo>
                <a:lnTo>
                  <a:pt x="0" y="4005453"/>
                </a:lnTo>
                <a:close/>
              </a:path>
            </a:pathLst>
          </a:custGeom>
          <a:solidFill>
            <a:srgbClr val="E1E1EA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3"/>
          <p:cNvSpPr/>
          <p:nvPr/>
        </p:nvSpPr>
        <p:spPr>
          <a:xfrm>
            <a:off x="11858034" y="3324225"/>
            <a:ext cx="38100" cy="3004089"/>
          </a:xfrm>
          <a:custGeom>
            <a:avLst/>
            <a:gdLst/>
            <a:ahLst/>
            <a:cxnLst/>
            <a:rect l="l" t="t" r="r" b="b"/>
            <a:pathLst>
              <a:path w="50800" h="4005453" extrusionOk="0">
                <a:moveTo>
                  <a:pt x="0" y="25400"/>
                </a:moveTo>
                <a:cubicBezTo>
                  <a:pt x="0" y="11430"/>
                  <a:pt x="11430" y="0"/>
                  <a:pt x="25400" y="0"/>
                </a:cubicBezTo>
                <a:cubicBezTo>
                  <a:pt x="39370" y="0"/>
                  <a:pt x="50800" y="11430"/>
                  <a:pt x="50800" y="25400"/>
                </a:cubicBezTo>
                <a:lnTo>
                  <a:pt x="50800" y="3980053"/>
                </a:lnTo>
                <a:cubicBezTo>
                  <a:pt x="50800" y="3994023"/>
                  <a:pt x="39370" y="4005453"/>
                  <a:pt x="25400" y="4005453"/>
                </a:cubicBezTo>
                <a:cubicBezTo>
                  <a:pt x="11430" y="4005453"/>
                  <a:pt x="0" y="3994023"/>
                  <a:pt x="0" y="3980053"/>
                </a:cubicBezTo>
                <a:close/>
              </a:path>
            </a:pathLst>
          </a:custGeom>
          <a:solidFill>
            <a:srgbClr val="C7C7D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12566752" y="3579171"/>
            <a:ext cx="3836987" cy="439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 b="1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 Aggregation into Apps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12566752" y="4125516"/>
            <a:ext cx="4435973" cy="1456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7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Groups related processes using a sophisticated tree-based algorithm for clear application context.</a:t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1001763" y="6328324"/>
            <a:ext cx="8142256" cy="2087308"/>
          </a:xfrm>
          <a:custGeom>
            <a:avLst/>
            <a:gdLst/>
            <a:ahLst/>
            <a:cxnLst/>
            <a:rect l="l" t="t" r="r" b="b"/>
            <a:pathLst>
              <a:path w="10856341" h="2783078" extrusionOk="0">
                <a:moveTo>
                  <a:pt x="0" y="0"/>
                </a:moveTo>
                <a:lnTo>
                  <a:pt x="10856341" y="0"/>
                </a:lnTo>
                <a:lnTo>
                  <a:pt x="10856341" y="2783078"/>
                </a:lnTo>
                <a:lnTo>
                  <a:pt x="0" y="2783078"/>
                </a:lnTo>
                <a:close/>
              </a:path>
            </a:pathLst>
          </a:custGeom>
          <a:solidFill>
            <a:srgbClr val="E1E1EA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3"/>
          <p:cNvSpPr/>
          <p:nvPr/>
        </p:nvSpPr>
        <p:spPr>
          <a:xfrm>
            <a:off x="1001763" y="6328324"/>
            <a:ext cx="8142256" cy="38100"/>
          </a:xfrm>
          <a:custGeom>
            <a:avLst/>
            <a:gdLst/>
            <a:ahLst/>
            <a:cxnLst/>
            <a:rect l="l" t="t" r="r" b="b"/>
            <a:pathLst>
              <a:path w="10856341" h="50800" extrusionOk="0">
                <a:moveTo>
                  <a:pt x="0" y="25400"/>
                </a:moveTo>
                <a:cubicBezTo>
                  <a:pt x="0" y="11430"/>
                  <a:pt x="11430" y="0"/>
                  <a:pt x="25400" y="0"/>
                </a:cubicBezTo>
                <a:lnTo>
                  <a:pt x="10830941" y="0"/>
                </a:lnTo>
                <a:cubicBezTo>
                  <a:pt x="10844911" y="0"/>
                  <a:pt x="10856341" y="11430"/>
                  <a:pt x="10856341" y="25400"/>
                </a:cubicBezTo>
                <a:cubicBezTo>
                  <a:pt x="10856341" y="39370"/>
                  <a:pt x="10844911" y="50800"/>
                  <a:pt x="10830941" y="50800"/>
                </a:cubicBezTo>
                <a:lnTo>
                  <a:pt x="25400" y="50800"/>
                </a:lnTo>
                <a:cubicBezTo>
                  <a:pt x="11430" y="50800"/>
                  <a:pt x="0" y="39370"/>
                  <a:pt x="0" y="25400"/>
                </a:cubicBezTo>
                <a:close/>
              </a:path>
            </a:pathLst>
          </a:custGeom>
          <a:solidFill>
            <a:srgbClr val="C7C7D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1285284" y="6583261"/>
            <a:ext cx="2090738" cy="439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 b="1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Safe Control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1285284" y="7129615"/>
            <a:ext cx="7149998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7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Leverages POSIX signal dispatching for robust and secure process management actions, like kill, suspend, etc.</a:t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9144000" y="6328324"/>
            <a:ext cx="8142256" cy="2087308"/>
          </a:xfrm>
          <a:custGeom>
            <a:avLst/>
            <a:gdLst/>
            <a:ahLst/>
            <a:cxnLst/>
            <a:rect l="l" t="t" r="r" b="b"/>
            <a:pathLst>
              <a:path w="10856341" h="2783078" extrusionOk="0">
                <a:moveTo>
                  <a:pt x="0" y="0"/>
                </a:moveTo>
                <a:lnTo>
                  <a:pt x="10856341" y="0"/>
                </a:lnTo>
                <a:lnTo>
                  <a:pt x="10856341" y="2783078"/>
                </a:lnTo>
                <a:lnTo>
                  <a:pt x="0" y="2783078"/>
                </a:lnTo>
                <a:close/>
              </a:path>
            </a:pathLst>
          </a:custGeom>
          <a:solidFill>
            <a:srgbClr val="E1E1EA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3"/>
          <p:cNvSpPr/>
          <p:nvPr/>
        </p:nvSpPr>
        <p:spPr>
          <a:xfrm>
            <a:off x="9144000" y="6328324"/>
            <a:ext cx="38100" cy="2087308"/>
          </a:xfrm>
          <a:custGeom>
            <a:avLst/>
            <a:gdLst/>
            <a:ahLst/>
            <a:cxnLst/>
            <a:rect l="l" t="t" r="r" b="b"/>
            <a:pathLst>
              <a:path w="50800" h="2783078" extrusionOk="0">
                <a:moveTo>
                  <a:pt x="0" y="25400"/>
                </a:moveTo>
                <a:cubicBezTo>
                  <a:pt x="0" y="11430"/>
                  <a:pt x="11430" y="0"/>
                  <a:pt x="25400" y="0"/>
                </a:cubicBezTo>
                <a:cubicBezTo>
                  <a:pt x="39370" y="0"/>
                  <a:pt x="50800" y="11430"/>
                  <a:pt x="50800" y="25400"/>
                </a:cubicBezTo>
                <a:lnTo>
                  <a:pt x="50800" y="2757678"/>
                </a:lnTo>
                <a:cubicBezTo>
                  <a:pt x="50800" y="2771648"/>
                  <a:pt x="39370" y="2783078"/>
                  <a:pt x="25400" y="2783078"/>
                </a:cubicBezTo>
                <a:cubicBezTo>
                  <a:pt x="11430" y="2783078"/>
                  <a:pt x="0" y="2771648"/>
                  <a:pt x="0" y="2757678"/>
                </a:cubicBezTo>
                <a:close/>
              </a:path>
            </a:pathLst>
          </a:custGeom>
          <a:solidFill>
            <a:srgbClr val="C7C7D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9144000" y="6328324"/>
            <a:ext cx="8142256" cy="38100"/>
          </a:xfrm>
          <a:custGeom>
            <a:avLst/>
            <a:gdLst/>
            <a:ahLst/>
            <a:cxnLst/>
            <a:rect l="l" t="t" r="r" b="b"/>
            <a:pathLst>
              <a:path w="10856341" h="50800" extrusionOk="0">
                <a:moveTo>
                  <a:pt x="0" y="25400"/>
                </a:moveTo>
                <a:cubicBezTo>
                  <a:pt x="0" y="11430"/>
                  <a:pt x="11430" y="0"/>
                  <a:pt x="25400" y="0"/>
                </a:cubicBezTo>
                <a:lnTo>
                  <a:pt x="10830941" y="0"/>
                </a:lnTo>
                <a:cubicBezTo>
                  <a:pt x="10844911" y="0"/>
                  <a:pt x="10856341" y="11430"/>
                  <a:pt x="10856341" y="25400"/>
                </a:cubicBezTo>
                <a:cubicBezTo>
                  <a:pt x="10856341" y="39370"/>
                  <a:pt x="10844911" y="50800"/>
                  <a:pt x="10830941" y="50800"/>
                </a:cubicBezTo>
                <a:lnTo>
                  <a:pt x="25400" y="50800"/>
                </a:lnTo>
                <a:cubicBezTo>
                  <a:pt x="11430" y="50800"/>
                  <a:pt x="0" y="39370"/>
                  <a:pt x="0" y="25400"/>
                </a:cubicBezTo>
                <a:close/>
              </a:path>
            </a:pathLst>
          </a:custGeom>
          <a:solidFill>
            <a:srgbClr val="C7C7D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9852717" y="6583261"/>
            <a:ext cx="3289459" cy="439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 b="1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Grouping  by Usage</a:t>
            </a:r>
            <a:endParaRPr/>
          </a:p>
        </p:txBody>
      </p:sp>
      <p:sp>
        <p:nvSpPr>
          <p:cNvPr id="131" name="Google Shape;131;p3"/>
          <p:cNvSpPr txBox="1"/>
          <p:nvPr/>
        </p:nvSpPr>
        <p:spPr>
          <a:xfrm>
            <a:off x="9852717" y="7129615"/>
            <a:ext cx="7149998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7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Groups applications by their usage by implementing clustering algorithm (k-medoids) to provide insights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A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4"/>
          <p:cNvGrpSpPr/>
          <p:nvPr/>
        </p:nvGrpSpPr>
        <p:grpSpPr>
          <a:xfrm>
            <a:off x="1571145" y="3130478"/>
            <a:ext cx="8465985" cy="3447752"/>
            <a:chOff x="0" y="-95250"/>
            <a:chExt cx="2229725" cy="908050"/>
          </a:xfrm>
        </p:grpSpPr>
        <p:sp>
          <p:nvSpPr>
            <p:cNvPr id="137" name="Google Shape;137;p4"/>
            <p:cNvSpPr/>
            <p:nvPr/>
          </p:nvSpPr>
          <p:spPr>
            <a:xfrm>
              <a:off x="0" y="0"/>
              <a:ext cx="2229725" cy="812800"/>
            </a:xfrm>
            <a:custGeom>
              <a:avLst/>
              <a:gdLst/>
              <a:ahLst/>
              <a:cxnLst/>
              <a:rect l="l" t="t" r="r" b="b"/>
              <a:pathLst>
                <a:path w="2229725" h="812800" extrusionOk="0">
                  <a:moveTo>
                    <a:pt x="14632" y="0"/>
                  </a:moveTo>
                  <a:lnTo>
                    <a:pt x="2215093" y="0"/>
                  </a:lnTo>
                  <a:cubicBezTo>
                    <a:pt x="2218973" y="0"/>
                    <a:pt x="2222695" y="1542"/>
                    <a:pt x="2225439" y="4285"/>
                  </a:cubicBezTo>
                  <a:cubicBezTo>
                    <a:pt x="2228183" y="7029"/>
                    <a:pt x="2229725" y="10751"/>
                    <a:pt x="2229725" y="14632"/>
                  </a:cubicBezTo>
                  <a:lnTo>
                    <a:pt x="2229725" y="798168"/>
                  </a:lnTo>
                  <a:cubicBezTo>
                    <a:pt x="2229725" y="802049"/>
                    <a:pt x="2228183" y="805771"/>
                    <a:pt x="2225439" y="808515"/>
                  </a:cubicBezTo>
                  <a:cubicBezTo>
                    <a:pt x="2222695" y="811258"/>
                    <a:pt x="2218973" y="812800"/>
                    <a:pt x="2215093" y="812800"/>
                  </a:cubicBezTo>
                  <a:lnTo>
                    <a:pt x="14632" y="812800"/>
                  </a:lnTo>
                  <a:cubicBezTo>
                    <a:pt x="10751" y="812800"/>
                    <a:pt x="7029" y="811258"/>
                    <a:pt x="4285" y="808515"/>
                  </a:cubicBezTo>
                  <a:cubicBezTo>
                    <a:pt x="1542" y="805771"/>
                    <a:pt x="0" y="802049"/>
                    <a:pt x="0" y="798168"/>
                  </a:cubicBezTo>
                  <a:lnTo>
                    <a:pt x="0" y="14632"/>
                  </a:lnTo>
                  <a:cubicBezTo>
                    <a:pt x="0" y="10751"/>
                    <a:pt x="1542" y="7029"/>
                    <a:pt x="4285" y="4285"/>
                  </a:cubicBezTo>
                  <a:cubicBezTo>
                    <a:pt x="7029" y="1542"/>
                    <a:pt x="10751" y="0"/>
                    <a:pt x="14632" y="0"/>
                  </a:cubicBezTo>
                  <a:close/>
                </a:path>
              </a:pathLst>
            </a:custGeom>
            <a:solidFill>
              <a:srgbClr val="E1E1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4"/>
            <p:cNvSpPr txBox="1"/>
            <p:nvPr/>
          </p:nvSpPr>
          <p:spPr>
            <a:xfrm>
              <a:off x="0" y="-95250"/>
              <a:ext cx="2229725" cy="908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7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" name="Google Shape;139;p4"/>
          <p:cNvSpPr txBox="1"/>
          <p:nvPr/>
        </p:nvSpPr>
        <p:spPr>
          <a:xfrm>
            <a:off x="1571145" y="1225725"/>
            <a:ext cx="6505258" cy="954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5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Technologies Used</a:t>
            </a:r>
            <a:endParaRPr/>
          </a:p>
        </p:txBody>
      </p:sp>
      <p:sp>
        <p:nvSpPr>
          <p:cNvPr id="140" name="Google Shape;140;p4"/>
          <p:cNvSpPr txBox="1"/>
          <p:nvPr/>
        </p:nvSpPr>
        <p:spPr>
          <a:xfrm>
            <a:off x="2076747" y="3662435"/>
            <a:ext cx="7417276" cy="2399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34059" marR="0" lvl="1" indent="-367030" algn="just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lang="en-US" sz="3399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Language</a:t>
            </a:r>
            <a:r>
              <a:rPr lang="en-US" sz="3399" b="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399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  <a:r>
              <a:rPr lang="en-US" sz="3399" b="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C</a:t>
            </a:r>
            <a:endParaRPr/>
          </a:p>
          <a:p>
            <a:pPr marL="734059" marR="0" lvl="1" indent="-367030" algn="just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lang="en-US" sz="3399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Compiler</a:t>
            </a:r>
            <a:r>
              <a:rPr lang="en-US" sz="3399" b="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399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: </a:t>
            </a:r>
            <a:r>
              <a:rPr lang="en-US" sz="3399" b="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GNU GCC compiler</a:t>
            </a:r>
            <a:endParaRPr/>
          </a:p>
          <a:p>
            <a:pPr marL="734059" marR="0" lvl="1" indent="-367030" algn="just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lang="en-US" sz="3399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OS :</a:t>
            </a:r>
            <a:r>
              <a:rPr lang="en-US" sz="3399" b="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Linux</a:t>
            </a:r>
            <a:endParaRPr/>
          </a:p>
          <a:p>
            <a:pPr marL="734059" marR="0" lvl="1" indent="-367030" algn="just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lang="en-US" sz="3399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Libraries :</a:t>
            </a:r>
            <a:r>
              <a:rPr lang="en-US" sz="3399" b="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stdio, stdlib, signal, etc.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A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ECECF3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6EA">
              <a:alpha val="89803"/>
            </a:srgbClr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5" descr="preencoded.png">
            <a:hlinkClick r:id="rId3"/>
          </p:cNvPr>
          <p:cNvSpPr/>
          <p:nvPr/>
        </p:nvSpPr>
        <p:spPr>
          <a:xfrm>
            <a:off x="16049015" y="9686925"/>
            <a:ext cx="2153260" cy="514350"/>
          </a:xfrm>
          <a:custGeom>
            <a:avLst/>
            <a:gdLst/>
            <a:ahLst/>
            <a:cxnLst/>
            <a:rect l="l" t="t" r="r" b="b"/>
            <a:pathLst>
              <a:path w="2153260" h="514350" extrusionOk="0">
                <a:moveTo>
                  <a:pt x="0" y="0"/>
                </a:moveTo>
                <a:lnTo>
                  <a:pt x="2153260" y="0"/>
                </a:lnTo>
                <a:lnTo>
                  <a:pt x="215326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8" name="Google Shape;148;p5"/>
          <p:cNvSpPr txBox="1"/>
          <p:nvPr/>
        </p:nvSpPr>
        <p:spPr>
          <a:xfrm>
            <a:off x="1145419" y="478907"/>
            <a:ext cx="12968135" cy="914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7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62" b="0" i="0" u="none" strike="noStrike" cap="non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System Architecture: The Pulse Pipeline</a:t>
            </a:r>
            <a:endParaRPr/>
          </a:p>
        </p:txBody>
      </p:sp>
      <p:sp>
        <p:nvSpPr>
          <p:cNvPr id="149" name="Google Shape;149;p5"/>
          <p:cNvSpPr txBox="1"/>
          <p:nvPr/>
        </p:nvSpPr>
        <p:spPr>
          <a:xfrm>
            <a:off x="1145419" y="1537897"/>
            <a:ext cx="16303523" cy="1002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7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Pulse is built upon a robust, modular architecture designed for efficiency and scalability. It meticulously separates data collection from presentation, ensuring low overhead and high responsiveness.</a:t>
            </a:r>
            <a:endParaRPr/>
          </a:p>
        </p:txBody>
      </p:sp>
      <p:sp>
        <p:nvSpPr>
          <p:cNvPr id="150" name="Google Shape;150;p5"/>
          <p:cNvSpPr txBox="1"/>
          <p:nvPr/>
        </p:nvSpPr>
        <p:spPr>
          <a:xfrm>
            <a:off x="992238" y="9143238"/>
            <a:ext cx="16303523" cy="548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7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This modularity allows for independent optimization of each stage, providing a flexible and powerful monitoring solution.</a:t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0" y="98536"/>
            <a:ext cx="18288000" cy="10089928"/>
          </a:xfrm>
          <a:custGeom>
            <a:avLst/>
            <a:gdLst/>
            <a:ahLst/>
            <a:cxnLst/>
            <a:rect l="l" t="t" r="r" b="b"/>
            <a:pathLst>
              <a:path w="18288000" h="10089928" extrusionOk="0">
                <a:moveTo>
                  <a:pt x="0" y="0"/>
                </a:moveTo>
                <a:lnTo>
                  <a:pt x="18288000" y="0"/>
                </a:lnTo>
                <a:lnTo>
                  <a:pt x="18288000" y="10089928"/>
                </a:lnTo>
                <a:lnTo>
                  <a:pt x="0" y="10089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A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ECECF3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6EA">
              <a:alpha val="89803"/>
            </a:srgbClr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6"/>
          <p:cNvSpPr/>
          <p:nvPr/>
        </p:nvSpPr>
        <p:spPr>
          <a:xfrm>
            <a:off x="10592" y="0"/>
            <a:ext cx="18281847" cy="10393051"/>
          </a:xfrm>
          <a:custGeom>
            <a:avLst/>
            <a:gdLst/>
            <a:ahLst/>
            <a:cxnLst/>
            <a:rect l="l" t="t" r="r" b="b"/>
            <a:pathLst>
              <a:path w="18281847" h="10393051" extrusionOk="0">
                <a:moveTo>
                  <a:pt x="0" y="0"/>
                </a:moveTo>
                <a:lnTo>
                  <a:pt x="18281847" y="0"/>
                </a:lnTo>
                <a:lnTo>
                  <a:pt x="18281847" y="10393051"/>
                </a:lnTo>
                <a:lnTo>
                  <a:pt x="0" y="103930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4375" r="-4376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A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"/>
          <p:cNvSpPr/>
          <p:nvPr/>
        </p:nvSpPr>
        <p:spPr>
          <a:xfrm>
            <a:off x="3185975" y="3367700"/>
            <a:ext cx="11887200" cy="634365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316" r="-3315"/>
            </a:stretch>
          </a:blipFill>
          <a:ln>
            <a:noFill/>
          </a:ln>
        </p:spPr>
      </p:sp>
      <p:sp>
        <p:nvSpPr>
          <p:cNvPr id="164" name="Google Shape;164;p7"/>
          <p:cNvSpPr txBox="1"/>
          <p:nvPr/>
        </p:nvSpPr>
        <p:spPr>
          <a:xfrm>
            <a:off x="2634538" y="449942"/>
            <a:ext cx="8924811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62" b="1" i="0" u="none" strike="noStrike" cap="non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Deep Dive: Data Extraction</a:t>
            </a:r>
            <a:endParaRPr/>
          </a:p>
        </p:txBody>
      </p:sp>
      <p:sp>
        <p:nvSpPr>
          <p:cNvPr id="165" name="Google Shape;165;p7"/>
          <p:cNvSpPr txBox="1"/>
          <p:nvPr/>
        </p:nvSpPr>
        <p:spPr>
          <a:xfrm>
            <a:off x="2333640" y="1478674"/>
            <a:ext cx="15317299" cy="2077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32935" marR="0" lvl="1" indent="-266467" algn="l" rtl="0">
              <a:lnSpc>
                <a:spcPct val="16252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468"/>
              <a:buFont typeface="Arial"/>
              <a:buChar char="•"/>
            </a:pPr>
            <a:r>
              <a:rPr lang="en-US" sz="2468" b="1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Mechanism:</a:t>
            </a:r>
            <a:r>
              <a:rPr lang="en-US" sz="2468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Direct readdir traversal of /proc directories (No syscall overhead).</a:t>
            </a:r>
            <a:endParaRPr/>
          </a:p>
          <a:p>
            <a:pPr marL="532935" marR="0" lvl="1" indent="-266467" algn="l" rtl="0">
              <a:lnSpc>
                <a:spcPct val="16252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468"/>
              <a:buFont typeface="Arial"/>
              <a:buChar char="•"/>
            </a:pPr>
            <a:r>
              <a:rPr lang="en-US" sz="2468" b="1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Optimization:</a:t>
            </a:r>
            <a:r>
              <a:rPr lang="en-US" sz="2468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Dynamic Arrays (Vectors) ensure contiguous, cache-friendly memory.</a:t>
            </a:r>
            <a:endParaRPr/>
          </a:p>
          <a:p>
            <a:pPr marL="532935" marR="0" lvl="1" indent="-266467" algn="l" rtl="0">
              <a:lnSpc>
                <a:spcPct val="16252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468"/>
              <a:buFont typeface="Arial"/>
              <a:buChar char="•"/>
            </a:pPr>
            <a:r>
              <a:rPr lang="en-US" sz="2468" b="1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Safety:</a:t>
            </a:r>
            <a:r>
              <a:rPr lang="en-US" sz="2468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Proactive filtering of kernel threads and locked folders prevents crashes</a:t>
            </a:r>
            <a:endParaRPr/>
          </a:p>
          <a:p>
            <a:pPr marL="0" marR="0" lvl="0" indent="0" algn="l" rtl="0">
              <a:lnSpc>
                <a:spcPct val="18849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68" b="0" i="0" u="none" strike="noStrike" cap="none">
              <a:solidFill>
                <a:srgbClr val="3C393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A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ECECF3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8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6EA">
              <a:alpha val="89803"/>
            </a:srgbClr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8" descr="preencoded.png">
            <a:hlinkClick r:id="rId3"/>
          </p:cNvPr>
          <p:cNvSpPr/>
          <p:nvPr/>
        </p:nvSpPr>
        <p:spPr>
          <a:xfrm>
            <a:off x="16049015" y="9686925"/>
            <a:ext cx="2153260" cy="514350"/>
          </a:xfrm>
          <a:custGeom>
            <a:avLst/>
            <a:gdLst/>
            <a:ahLst/>
            <a:cxnLst/>
            <a:rect l="l" t="t" r="r" b="b"/>
            <a:pathLst>
              <a:path w="2153260" h="514350" extrusionOk="0">
                <a:moveTo>
                  <a:pt x="0" y="0"/>
                </a:moveTo>
                <a:lnTo>
                  <a:pt x="2153260" y="0"/>
                </a:lnTo>
                <a:lnTo>
                  <a:pt x="215326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73" name="Google Shape;173;p8"/>
          <p:cNvSpPr/>
          <p:nvPr/>
        </p:nvSpPr>
        <p:spPr>
          <a:xfrm>
            <a:off x="0" y="155867"/>
            <a:ext cx="18288000" cy="9975275"/>
          </a:xfrm>
          <a:custGeom>
            <a:avLst/>
            <a:gdLst/>
            <a:ahLst/>
            <a:cxnLst/>
            <a:rect l="l" t="t" r="r" b="b"/>
            <a:pathLst>
              <a:path w="18288000" h="9975275" extrusionOk="0">
                <a:moveTo>
                  <a:pt x="0" y="0"/>
                </a:moveTo>
                <a:lnTo>
                  <a:pt x="18288000" y="0"/>
                </a:lnTo>
                <a:lnTo>
                  <a:pt x="18288000" y="9975275"/>
                </a:lnTo>
                <a:lnTo>
                  <a:pt x="0" y="9975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A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/>
          <p:cNvSpPr/>
          <p:nvPr/>
        </p:nvSpPr>
        <p:spPr>
          <a:xfrm>
            <a:off x="74409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ECECF3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9"/>
          <p:cNvSpPr/>
          <p:nvPr/>
        </p:nvSpPr>
        <p:spPr>
          <a:xfrm>
            <a:off x="1747825" y="3148675"/>
            <a:ext cx="13229995" cy="6617970"/>
          </a:xfrm>
          <a:custGeom>
            <a:avLst/>
            <a:gdLst/>
            <a:ahLst/>
            <a:cxnLst/>
            <a:rect l="l" t="t" r="r" b="b"/>
            <a:pathLst>
              <a:path w="26068955" h="13716000" extrusionOk="0">
                <a:moveTo>
                  <a:pt x="0" y="0"/>
                </a:moveTo>
                <a:lnTo>
                  <a:pt x="26068955" y="0"/>
                </a:lnTo>
                <a:lnTo>
                  <a:pt x="26068955" y="13716000"/>
                </a:lnTo>
                <a:lnTo>
                  <a:pt x="0" y="13716000"/>
                </a:lnTo>
                <a:close/>
              </a:path>
            </a:pathLst>
          </a:custGeom>
          <a:blipFill rotWithShape="1">
            <a:blip r:embed="rId3">
              <a:alphaModFix amt="95000"/>
            </a:blip>
            <a:stretch>
              <a:fillRect l="-834" r="-833"/>
            </a:stretch>
          </a:blipFill>
          <a:ln>
            <a:noFill/>
          </a:ln>
        </p:spPr>
      </p:sp>
      <p:sp>
        <p:nvSpPr>
          <p:cNvPr id="180" name="Google Shape;180;p9"/>
          <p:cNvSpPr txBox="1"/>
          <p:nvPr/>
        </p:nvSpPr>
        <p:spPr>
          <a:xfrm>
            <a:off x="1747822" y="138112"/>
            <a:ext cx="12705379" cy="890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6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Deep Dive: Resource Calculation</a:t>
            </a:r>
            <a:endParaRPr/>
          </a:p>
        </p:txBody>
      </p:sp>
      <p:sp>
        <p:nvSpPr>
          <p:cNvPr id="181" name="Google Shape;181;p9"/>
          <p:cNvSpPr txBox="1"/>
          <p:nvPr/>
        </p:nvSpPr>
        <p:spPr>
          <a:xfrm>
            <a:off x="1747825" y="1381724"/>
            <a:ext cx="16303500" cy="19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72281" marR="0" lvl="1" indent="-236141" algn="l" rtl="0">
              <a:lnSpc>
                <a:spcPct val="162825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187"/>
              <a:buFont typeface="Arial"/>
              <a:buChar char="•"/>
            </a:pPr>
            <a:r>
              <a:rPr lang="en-US" sz="2187" b="1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The Challenge:</a:t>
            </a:r>
            <a:r>
              <a:rPr lang="en-US" sz="2187" b="0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 Naive snapshot comparison scales poorly (O(N²)), causing UI freeze.</a:t>
            </a:r>
            <a:endParaRPr/>
          </a:p>
          <a:p>
            <a:pPr marL="472281" marR="0" lvl="1" indent="-236141" algn="l" rtl="0">
              <a:lnSpc>
                <a:spcPct val="162825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187"/>
              <a:buFont typeface="Arial"/>
              <a:buChar char="•"/>
            </a:pPr>
            <a:r>
              <a:rPr lang="en-US" sz="2187" b="1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The Solution: </a:t>
            </a:r>
            <a:r>
              <a:rPr lang="en-US" sz="2187" b="0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Custom Hash Map implementation for instant PID matching.</a:t>
            </a:r>
            <a:endParaRPr/>
          </a:p>
          <a:p>
            <a:pPr marL="472281" marR="0" lvl="1" indent="-236141" algn="l" rtl="0">
              <a:lnSpc>
                <a:spcPct val="162825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187"/>
              <a:buFont typeface="Arial"/>
              <a:buChar char="•"/>
            </a:pPr>
            <a:r>
              <a:rPr lang="en-US" sz="2187" b="1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The Result:</a:t>
            </a:r>
            <a:r>
              <a:rPr lang="en-US" sz="2187" b="0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 Achieves O(1) average complexity for real-time CPU delta calculation.</a:t>
            </a:r>
            <a:endParaRPr/>
          </a:p>
          <a:p>
            <a:pPr marL="0" marR="0" lvl="0" indent="0" algn="l" rtl="0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87" b="0" i="0" u="none" strike="noStrike" cap="none">
              <a:solidFill>
                <a:srgbClr val="3C393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A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ECECF3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10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6EA">
              <a:alpha val="89803"/>
            </a:srgbClr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p10" descr="preencoded.png">
            <a:hlinkClick r:id="rId3"/>
          </p:cNvPr>
          <p:cNvSpPr/>
          <p:nvPr/>
        </p:nvSpPr>
        <p:spPr>
          <a:xfrm>
            <a:off x="16049015" y="9686925"/>
            <a:ext cx="2153260" cy="514350"/>
          </a:xfrm>
          <a:custGeom>
            <a:avLst/>
            <a:gdLst/>
            <a:ahLst/>
            <a:cxnLst/>
            <a:rect l="l" t="t" r="r" b="b"/>
            <a:pathLst>
              <a:path w="2153260" h="514350" extrusionOk="0">
                <a:moveTo>
                  <a:pt x="0" y="0"/>
                </a:moveTo>
                <a:lnTo>
                  <a:pt x="2153260" y="0"/>
                </a:lnTo>
                <a:lnTo>
                  <a:pt x="215326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9" name="Google Shape;189;p10"/>
          <p:cNvSpPr/>
          <p:nvPr/>
        </p:nvSpPr>
        <p:spPr>
          <a:xfrm>
            <a:off x="0" y="98536"/>
            <a:ext cx="18288000" cy="10089928"/>
          </a:xfrm>
          <a:custGeom>
            <a:avLst/>
            <a:gdLst/>
            <a:ahLst/>
            <a:cxnLst/>
            <a:rect l="l" t="t" r="r" b="b"/>
            <a:pathLst>
              <a:path w="18288000" h="10089928" extrusionOk="0">
                <a:moveTo>
                  <a:pt x="0" y="0"/>
                </a:moveTo>
                <a:lnTo>
                  <a:pt x="18288000" y="0"/>
                </a:lnTo>
                <a:lnTo>
                  <a:pt x="18288000" y="10089928"/>
                </a:lnTo>
                <a:lnTo>
                  <a:pt x="0" y="10089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A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ECECF3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p11"/>
          <p:cNvSpPr/>
          <p:nvPr/>
        </p:nvSpPr>
        <p:spPr>
          <a:xfrm>
            <a:off x="2725025" y="3116824"/>
            <a:ext cx="11895894" cy="6515100"/>
          </a:xfrm>
          <a:custGeom>
            <a:avLst/>
            <a:gdLst/>
            <a:ahLst/>
            <a:cxnLst/>
            <a:rect l="l" t="t" r="r" b="b"/>
            <a:pathLst>
              <a:path w="23440185" h="13716000" extrusionOk="0">
                <a:moveTo>
                  <a:pt x="0" y="0"/>
                </a:moveTo>
                <a:lnTo>
                  <a:pt x="23440185" y="0"/>
                </a:lnTo>
                <a:lnTo>
                  <a:pt x="23440185" y="13716000"/>
                </a:lnTo>
                <a:lnTo>
                  <a:pt x="0" y="13716000"/>
                </a:lnTo>
                <a:close/>
              </a:path>
            </a:pathLst>
          </a:custGeom>
          <a:blipFill rotWithShape="1">
            <a:blip r:embed="rId3">
              <a:alphaModFix amt="95000"/>
            </a:blip>
            <a:stretch>
              <a:fillRect t="-413" b="-413"/>
            </a:stretch>
          </a:blipFill>
          <a:ln>
            <a:noFill/>
          </a:ln>
        </p:spPr>
      </p:sp>
      <p:sp>
        <p:nvSpPr>
          <p:cNvPr id="196" name="Google Shape;196;p11"/>
          <p:cNvSpPr txBox="1"/>
          <p:nvPr/>
        </p:nvSpPr>
        <p:spPr>
          <a:xfrm>
            <a:off x="2123230" y="157163"/>
            <a:ext cx="7057231" cy="8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7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62" b="1" i="0" u="none" strike="noStrike" cap="non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Process Aggregation</a:t>
            </a:r>
            <a:endParaRPr/>
          </a:p>
        </p:txBody>
      </p:sp>
      <p:sp>
        <p:nvSpPr>
          <p:cNvPr id="197" name="Google Shape;197;p11"/>
          <p:cNvSpPr txBox="1"/>
          <p:nvPr/>
        </p:nvSpPr>
        <p:spPr>
          <a:xfrm>
            <a:off x="2123230" y="1198716"/>
            <a:ext cx="16303523" cy="19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5460" marR="0" lvl="1" indent="-257730" algn="l" rtl="0">
              <a:lnSpc>
                <a:spcPct val="162798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387"/>
              <a:buFont typeface="Arial"/>
              <a:buChar char="•"/>
            </a:pPr>
            <a:r>
              <a:rPr lang="en-US" sz="2387" b="1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Logic:</a:t>
            </a:r>
            <a:r>
              <a:rPr lang="en-US" sz="2387" b="0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 "Tree Walk" algorithm recursively traces every PID to its root parent.</a:t>
            </a:r>
            <a:endParaRPr/>
          </a:p>
          <a:p>
            <a:pPr marL="515460" marR="0" lvl="1" indent="-257730" algn="l" rtl="0">
              <a:lnSpc>
                <a:spcPct val="162798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387"/>
              <a:buFont typeface="Arial"/>
              <a:buChar char="•"/>
            </a:pPr>
            <a:r>
              <a:rPr lang="en-US" sz="2387" b="1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Heuristics:</a:t>
            </a:r>
            <a:r>
              <a:rPr lang="en-US" sz="2387" b="0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 Smart detection of boundaries (e.g., Shells, User IDs) defines the app.</a:t>
            </a:r>
            <a:endParaRPr/>
          </a:p>
          <a:p>
            <a:pPr marL="515460" marR="0" lvl="1" indent="-257730" algn="l" rtl="0">
              <a:lnSpc>
                <a:spcPct val="162798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387"/>
              <a:buFont typeface="Arial"/>
              <a:buChar char="•"/>
            </a:pPr>
            <a:r>
              <a:rPr lang="en-US" sz="2387" b="1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Outcome:</a:t>
            </a:r>
            <a:r>
              <a:rPr lang="en-US" sz="2387" b="0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 Transforms scattered kernel threads into unified "Application Units".</a:t>
            </a:r>
            <a:endParaRPr/>
          </a:p>
          <a:p>
            <a:pPr marL="0" marR="0" lvl="0" indent="0" algn="l" rtl="0">
              <a:lnSpc>
                <a:spcPct val="16279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87" b="0" i="0" u="none" strike="noStrike" cap="none">
              <a:solidFill>
                <a:srgbClr val="3C393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A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ECECF3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1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6EA">
              <a:alpha val="89803"/>
            </a:srgbClr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p12"/>
          <p:cNvSpPr txBox="1"/>
          <p:nvPr/>
        </p:nvSpPr>
        <p:spPr>
          <a:xfrm>
            <a:off x="992238" y="1445714"/>
            <a:ext cx="5855494" cy="8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7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62" b="1" i="0" u="none" strike="noStrike" cap="non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Future Roadmap </a:t>
            </a:r>
            <a:endParaRPr/>
          </a:p>
        </p:txBody>
      </p:sp>
      <p:sp>
        <p:nvSpPr>
          <p:cNvPr id="205" name="Google Shape;205;p12"/>
          <p:cNvSpPr/>
          <p:nvPr/>
        </p:nvSpPr>
        <p:spPr>
          <a:xfrm>
            <a:off x="1291960" y="2743625"/>
            <a:ext cx="38100" cy="5404416"/>
          </a:xfrm>
          <a:custGeom>
            <a:avLst/>
            <a:gdLst/>
            <a:ahLst/>
            <a:cxnLst/>
            <a:rect l="l" t="t" r="r" b="b"/>
            <a:pathLst>
              <a:path w="50800" h="8036306" extrusionOk="0">
                <a:moveTo>
                  <a:pt x="0" y="25400"/>
                </a:moveTo>
                <a:cubicBezTo>
                  <a:pt x="0" y="11430"/>
                  <a:pt x="11430" y="0"/>
                  <a:pt x="25400" y="0"/>
                </a:cubicBezTo>
                <a:cubicBezTo>
                  <a:pt x="39370" y="0"/>
                  <a:pt x="50800" y="11430"/>
                  <a:pt x="50800" y="25400"/>
                </a:cubicBezTo>
                <a:lnTo>
                  <a:pt x="50800" y="8010906"/>
                </a:lnTo>
                <a:cubicBezTo>
                  <a:pt x="50800" y="8024876"/>
                  <a:pt x="39370" y="8036306"/>
                  <a:pt x="25400" y="8036306"/>
                </a:cubicBezTo>
                <a:cubicBezTo>
                  <a:pt x="11430" y="8036306"/>
                  <a:pt x="0" y="8024876"/>
                  <a:pt x="0" y="8010906"/>
                </a:cubicBezTo>
                <a:close/>
              </a:path>
            </a:pathLst>
          </a:custGeom>
          <a:solidFill>
            <a:srgbClr val="C7C7D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2"/>
          <p:cNvSpPr/>
          <p:nvPr/>
        </p:nvSpPr>
        <p:spPr>
          <a:xfrm>
            <a:off x="1166660" y="3904659"/>
            <a:ext cx="850583" cy="38100"/>
          </a:xfrm>
          <a:custGeom>
            <a:avLst/>
            <a:gdLst/>
            <a:ahLst/>
            <a:cxnLst/>
            <a:rect l="l" t="t" r="r" b="b"/>
            <a:pathLst>
              <a:path w="1134110" h="50800" extrusionOk="0">
                <a:moveTo>
                  <a:pt x="0" y="25400"/>
                </a:moveTo>
                <a:cubicBezTo>
                  <a:pt x="0" y="11430"/>
                  <a:pt x="11430" y="0"/>
                  <a:pt x="25400" y="0"/>
                </a:cubicBezTo>
                <a:lnTo>
                  <a:pt x="1108710" y="0"/>
                </a:lnTo>
                <a:cubicBezTo>
                  <a:pt x="1122680" y="0"/>
                  <a:pt x="1134110" y="11430"/>
                  <a:pt x="1134110" y="25400"/>
                </a:cubicBezTo>
                <a:cubicBezTo>
                  <a:pt x="1134110" y="39370"/>
                  <a:pt x="1122680" y="50800"/>
                  <a:pt x="1108710" y="50800"/>
                </a:cubicBezTo>
                <a:lnTo>
                  <a:pt x="25400" y="50800"/>
                </a:lnTo>
                <a:cubicBezTo>
                  <a:pt x="11430" y="50800"/>
                  <a:pt x="0" y="39370"/>
                  <a:pt x="0" y="25400"/>
                </a:cubicBezTo>
                <a:close/>
              </a:path>
            </a:pathLst>
          </a:custGeom>
          <a:solidFill>
            <a:srgbClr val="C7C7D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2"/>
          <p:cNvSpPr/>
          <p:nvPr/>
        </p:nvSpPr>
        <p:spPr>
          <a:xfrm>
            <a:off x="1204760" y="3798399"/>
            <a:ext cx="212503" cy="212503"/>
          </a:xfrm>
          <a:custGeom>
            <a:avLst/>
            <a:gdLst/>
            <a:ahLst/>
            <a:cxnLst/>
            <a:rect l="l" t="t" r="r" b="b"/>
            <a:pathLst>
              <a:path w="283337" h="283337" extrusionOk="0">
                <a:moveTo>
                  <a:pt x="0" y="141732"/>
                </a:moveTo>
                <a:cubicBezTo>
                  <a:pt x="0" y="63373"/>
                  <a:pt x="63373" y="0"/>
                  <a:pt x="141732" y="0"/>
                </a:cubicBezTo>
                <a:cubicBezTo>
                  <a:pt x="220091" y="0"/>
                  <a:pt x="283337" y="63373"/>
                  <a:pt x="283337" y="141732"/>
                </a:cubicBezTo>
                <a:cubicBezTo>
                  <a:pt x="283337" y="220091"/>
                  <a:pt x="219964" y="283337"/>
                  <a:pt x="141732" y="283337"/>
                </a:cubicBezTo>
                <a:cubicBezTo>
                  <a:pt x="63500" y="283337"/>
                  <a:pt x="0" y="219964"/>
                  <a:pt x="0" y="141732"/>
                </a:cubicBezTo>
                <a:close/>
              </a:path>
            </a:pathLst>
          </a:custGeom>
          <a:solidFill>
            <a:srgbClr val="1B1B27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8" name="Google Shape;208;p12"/>
          <p:cNvGrpSpPr/>
          <p:nvPr/>
        </p:nvGrpSpPr>
        <p:grpSpPr>
          <a:xfrm>
            <a:off x="2009480" y="2967468"/>
            <a:ext cx="15249810" cy="1720440"/>
            <a:chOff x="0" y="0"/>
            <a:chExt cx="20333081" cy="2293920"/>
          </a:xfrm>
        </p:grpSpPr>
        <p:grpSp>
          <p:nvGrpSpPr>
            <p:cNvPr id="209" name="Google Shape;209;p12"/>
            <p:cNvGrpSpPr/>
            <p:nvPr/>
          </p:nvGrpSpPr>
          <p:grpSpPr>
            <a:xfrm>
              <a:off x="0" y="0"/>
              <a:ext cx="20333081" cy="2293920"/>
              <a:chOff x="0" y="0"/>
              <a:chExt cx="20333081" cy="2293920"/>
            </a:xfrm>
          </p:grpSpPr>
          <p:sp>
            <p:nvSpPr>
              <p:cNvPr id="210" name="Google Shape;210;p12"/>
              <p:cNvSpPr/>
              <p:nvPr/>
            </p:nvSpPr>
            <p:spPr>
              <a:xfrm>
                <a:off x="6350" y="4779"/>
                <a:ext cx="20320381" cy="2284362"/>
              </a:xfrm>
              <a:custGeom>
                <a:avLst/>
                <a:gdLst/>
                <a:ahLst/>
                <a:cxnLst/>
                <a:rect l="l" t="t" r="r" b="b"/>
                <a:pathLst>
                  <a:path w="20320381" h="2284362" extrusionOk="0">
                    <a:moveTo>
                      <a:pt x="0" y="119475"/>
                    </a:moveTo>
                    <a:cubicBezTo>
                      <a:pt x="0" y="53525"/>
                      <a:pt x="71374" y="0"/>
                      <a:pt x="159385" y="0"/>
                    </a:cubicBezTo>
                    <a:lnTo>
                      <a:pt x="20160996" y="0"/>
                    </a:lnTo>
                    <a:cubicBezTo>
                      <a:pt x="20249007" y="0"/>
                      <a:pt x="20320381" y="53525"/>
                      <a:pt x="20320381" y="119475"/>
                    </a:cubicBezTo>
                    <a:lnTo>
                      <a:pt x="20320381" y="2164887"/>
                    </a:lnTo>
                    <a:cubicBezTo>
                      <a:pt x="20320381" y="2230837"/>
                      <a:pt x="20249007" y="2284362"/>
                      <a:pt x="20160996" y="2284362"/>
                    </a:cubicBezTo>
                    <a:lnTo>
                      <a:pt x="159385" y="2284362"/>
                    </a:lnTo>
                    <a:cubicBezTo>
                      <a:pt x="71374" y="2284362"/>
                      <a:pt x="0" y="2230837"/>
                      <a:pt x="0" y="2164887"/>
                    </a:cubicBezTo>
                    <a:close/>
                  </a:path>
                </a:pathLst>
              </a:custGeom>
              <a:solidFill>
                <a:srgbClr val="E1E1EA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2"/>
              <p:cNvSpPr/>
              <p:nvPr/>
            </p:nvSpPr>
            <p:spPr>
              <a:xfrm>
                <a:off x="0" y="0"/>
                <a:ext cx="20333081" cy="2293920"/>
              </a:xfrm>
              <a:custGeom>
                <a:avLst/>
                <a:gdLst/>
                <a:ahLst/>
                <a:cxnLst/>
                <a:rect l="l" t="t" r="r" b="b"/>
                <a:pathLst>
                  <a:path w="20333081" h="2293920" extrusionOk="0">
                    <a:moveTo>
                      <a:pt x="0" y="124254"/>
                    </a:moveTo>
                    <a:cubicBezTo>
                      <a:pt x="0" y="55628"/>
                      <a:pt x="74168" y="0"/>
                      <a:pt x="165735" y="0"/>
                    </a:cubicBezTo>
                    <a:lnTo>
                      <a:pt x="20167346" y="0"/>
                    </a:lnTo>
                    <a:lnTo>
                      <a:pt x="20167346" y="4779"/>
                    </a:lnTo>
                    <a:lnTo>
                      <a:pt x="20167346" y="0"/>
                    </a:lnTo>
                    <a:cubicBezTo>
                      <a:pt x="20258785" y="0"/>
                      <a:pt x="20333081" y="55628"/>
                      <a:pt x="20333081" y="124254"/>
                    </a:cubicBezTo>
                    <a:lnTo>
                      <a:pt x="20326731" y="124254"/>
                    </a:lnTo>
                    <a:lnTo>
                      <a:pt x="20333081" y="124254"/>
                    </a:lnTo>
                    <a:lnTo>
                      <a:pt x="20333081" y="2169666"/>
                    </a:lnTo>
                    <a:lnTo>
                      <a:pt x="20326731" y="2169666"/>
                    </a:lnTo>
                    <a:lnTo>
                      <a:pt x="20333081" y="2169666"/>
                    </a:lnTo>
                    <a:cubicBezTo>
                      <a:pt x="20333081" y="2238293"/>
                      <a:pt x="20258912" y="2293920"/>
                      <a:pt x="20167346" y="2293920"/>
                    </a:cubicBezTo>
                    <a:lnTo>
                      <a:pt x="20167346" y="2289141"/>
                    </a:lnTo>
                    <a:lnTo>
                      <a:pt x="20167346" y="2293920"/>
                    </a:lnTo>
                    <a:lnTo>
                      <a:pt x="165735" y="2293920"/>
                    </a:lnTo>
                    <a:lnTo>
                      <a:pt x="165735" y="2289141"/>
                    </a:lnTo>
                    <a:lnTo>
                      <a:pt x="165735" y="2293920"/>
                    </a:lnTo>
                    <a:cubicBezTo>
                      <a:pt x="74168" y="2293920"/>
                      <a:pt x="0" y="2238293"/>
                      <a:pt x="0" y="2169666"/>
                    </a:cubicBezTo>
                    <a:lnTo>
                      <a:pt x="0" y="124254"/>
                    </a:lnTo>
                    <a:lnTo>
                      <a:pt x="6350" y="124254"/>
                    </a:lnTo>
                    <a:lnTo>
                      <a:pt x="0" y="124254"/>
                    </a:lnTo>
                    <a:moveTo>
                      <a:pt x="12700" y="124254"/>
                    </a:moveTo>
                    <a:lnTo>
                      <a:pt x="12700" y="2169666"/>
                    </a:lnTo>
                    <a:lnTo>
                      <a:pt x="6350" y="2169666"/>
                    </a:lnTo>
                    <a:lnTo>
                      <a:pt x="12700" y="2169666"/>
                    </a:lnTo>
                    <a:cubicBezTo>
                      <a:pt x="12700" y="2233036"/>
                      <a:pt x="81153" y="2284362"/>
                      <a:pt x="165735" y="2284362"/>
                    </a:cubicBezTo>
                    <a:lnTo>
                      <a:pt x="20167346" y="2284362"/>
                    </a:lnTo>
                    <a:cubicBezTo>
                      <a:pt x="20251801" y="2284362"/>
                      <a:pt x="20320381" y="2232940"/>
                      <a:pt x="20320381" y="2169666"/>
                    </a:cubicBezTo>
                    <a:lnTo>
                      <a:pt x="20320381" y="124254"/>
                    </a:lnTo>
                    <a:cubicBezTo>
                      <a:pt x="20320381" y="60884"/>
                      <a:pt x="20251928" y="9558"/>
                      <a:pt x="20167346" y="9558"/>
                    </a:cubicBezTo>
                    <a:lnTo>
                      <a:pt x="165735" y="9558"/>
                    </a:lnTo>
                    <a:lnTo>
                      <a:pt x="165735" y="4779"/>
                    </a:lnTo>
                    <a:lnTo>
                      <a:pt x="165735" y="9558"/>
                    </a:lnTo>
                    <a:cubicBezTo>
                      <a:pt x="81153" y="9558"/>
                      <a:pt x="12700" y="60980"/>
                      <a:pt x="12700" y="124254"/>
                    </a:cubicBezTo>
                    <a:close/>
                  </a:path>
                </a:pathLst>
              </a:custGeom>
              <a:solidFill>
                <a:srgbClr val="C7C7D0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12" name="Google Shape;212;p12"/>
            <p:cNvSpPr txBox="1"/>
            <p:nvPr/>
          </p:nvSpPr>
          <p:spPr>
            <a:xfrm>
              <a:off x="452031" y="119479"/>
              <a:ext cx="6019165" cy="576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50" b="1" i="0" u="none" strike="noStrike" cap="none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Implement System Control</a:t>
              </a:r>
              <a:endParaRPr/>
            </a:p>
          </p:txBody>
        </p:sp>
        <p:sp>
          <p:nvSpPr>
            <p:cNvPr id="213" name="Google Shape;213;p12"/>
            <p:cNvSpPr txBox="1"/>
            <p:nvPr/>
          </p:nvSpPr>
          <p:spPr>
            <a:xfrm>
              <a:off x="452031" y="1018988"/>
              <a:ext cx="1953895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87" b="0" i="0" u="none" strike="noStrike" cap="none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Using POSIX commands like SIGKILL, implement process control functions like kill, suspend and change priority</a:t>
              </a:r>
              <a:endParaRPr/>
            </a:p>
          </p:txBody>
        </p:sp>
      </p:grpSp>
      <p:grpSp>
        <p:nvGrpSpPr>
          <p:cNvPr id="214" name="Google Shape;214;p12"/>
          <p:cNvGrpSpPr/>
          <p:nvPr/>
        </p:nvGrpSpPr>
        <p:grpSpPr>
          <a:xfrm>
            <a:off x="1166660" y="7978365"/>
            <a:ext cx="918744" cy="212503"/>
            <a:chOff x="0" y="0"/>
            <a:chExt cx="1224991" cy="283337"/>
          </a:xfrm>
        </p:grpSpPr>
        <p:sp>
          <p:nvSpPr>
            <p:cNvPr id="215" name="Google Shape;215;p12"/>
            <p:cNvSpPr/>
            <p:nvPr/>
          </p:nvSpPr>
          <p:spPr>
            <a:xfrm>
              <a:off x="90881" y="116281"/>
              <a:ext cx="1134110" cy="50800"/>
            </a:xfrm>
            <a:custGeom>
              <a:avLst/>
              <a:gdLst/>
              <a:ahLst/>
              <a:cxnLst/>
              <a:rect l="l" t="t" r="r" b="b"/>
              <a:pathLst>
                <a:path w="1134110" h="50800" extrusionOk="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8710" y="0"/>
                  </a:lnTo>
                  <a:cubicBezTo>
                    <a:pt x="1122680" y="0"/>
                    <a:pt x="1134110" y="11430"/>
                    <a:pt x="1134110" y="25400"/>
                  </a:cubicBezTo>
                  <a:cubicBezTo>
                    <a:pt x="1134110" y="39370"/>
                    <a:pt x="1122680" y="50800"/>
                    <a:pt x="110871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C7C7D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2"/>
            <p:cNvSpPr/>
            <p:nvPr/>
          </p:nvSpPr>
          <p:spPr>
            <a:xfrm>
              <a:off x="0" y="0"/>
              <a:ext cx="283337" cy="283337"/>
            </a:xfrm>
            <a:custGeom>
              <a:avLst/>
              <a:gdLst/>
              <a:ahLst/>
              <a:cxnLst/>
              <a:rect l="l" t="t" r="r" b="b"/>
              <a:pathLst>
                <a:path w="283337" h="283337" extrusionOk="0">
                  <a:moveTo>
                    <a:pt x="0" y="141732"/>
                  </a:moveTo>
                  <a:cubicBezTo>
                    <a:pt x="0" y="63373"/>
                    <a:pt x="63373" y="0"/>
                    <a:pt x="141732" y="0"/>
                  </a:cubicBezTo>
                  <a:cubicBezTo>
                    <a:pt x="220091" y="0"/>
                    <a:pt x="283337" y="63373"/>
                    <a:pt x="283337" y="141732"/>
                  </a:cubicBezTo>
                  <a:cubicBezTo>
                    <a:pt x="283337" y="220091"/>
                    <a:pt x="219964" y="283337"/>
                    <a:pt x="141732" y="283337"/>
                  </a:cubicBezTo>
                  <a:cubicBezTo>
                    <a:pt x="63500" y="283337"/>
                    <a:pt x="0" y="219964"/>
                    <a:pt x="0" y="141732"/>
                  </a:cubicBezTo>
                  <a:close/>
                </a:path>
              </a:pathLst>
            </a:custGeom>
            <a:solidFill>
              <a:srgbClr val="1B1B27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" name="Google Shape;217;p12"/>
          <p:cNvGrpSpPr/>
          <p:nvPr/>
        </p:nvGrpSpPr>
        <p:grpSpPr>
          <a:xfrm>
            <a:off x="1166660" y="5894354"/>
            <a:ext cx="918744" cy="212503"/>
            <a:chOff x="0" y="0"/>
            <a:chExt cx="1224991" cy="283337"/>
          </a:xfrm>
        </p:grpSpPr>
        <p:sp>
          <p:nvSpPr>
            <p:cNvPr id="218" name="Google Shape;218;p12"/>
            <p:cNvSpPr/>
            <p:nvPr/>
          </p:nvSpPr>
          <p:spPr>
            <a:xfrm>
              <a:off x="90881" y="116281"/>
              <a:ext cx="1134110" cy="50800"/>
            </a:xfrm>
            <a:custGeom>
              <a:avLst/>
              <a:gdLst/>
              <a:ahLst/>
              <a:cxnLst/>
              <a:rect l="l" t="t" r="r" b="b"/>
              <a:pathLst>
                <a:path w="1134110" h="50800" extrusionOk="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8710" y="0"/>
                  </a:lnTo>
                  <a:cubicBezTo>
                    <a:pt x="1122680" y="0"/>
                    <a:pt x="1134110" y="11430"/>
                    <a:pt x="1134110" y="25400"/>
                  </a:cubicBezTo>
                  <a:cubicBezTo>
                    <a:pt x="1134110" y="39370"/>
                    <a:pt x="1122680" y="50800"/>
                    <a:pt x="110871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C7C7D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2"/>
            <p:cNvSpPr/>
            <p:nvPr/>
          </p:nvSpPr>
          <p:spPr>
            <a:xfrm>
              <a:off x="0" y="0"/>
              <a:ext cx="283337" cy="283337"/>
            </a:xfrm>
            <a:custGeom>
              <a:avLst/>
              <a:gdLst/>
              <a:ahLst/>
              <a:cxnLst/>
              <a:rect l="l" t="t" r="r" b="b"/>
              <a:pathLst>
                <a:path w="283337" h="283337" extrusionOk="0">
                  <a:moveTo>
                    <a:pt x="0" y="141732"/>
                  </a:moveTo>
                  <a:cubicBezTo>
                    <a:pt x="0" y="63373"/>
                    <a:pt x="63373" y="0"/>
                    <a:pt x="141732" y="0"/>
                  </a:cubicBezTo>
                  <a:cubicBezTo>
                    <a:pt x="220091" y="0"/>
                    <a:pt x="283337" y="63373"/>
                    <a:pt x="283337" y="141732"/>
                  </a:cubicBezTo>
                  <a:cubicBezTo>
                    <a:pt x="283337" y="220091"/>
                    <a:pt x="219964" y="283337"/>
                    <a:pt x="141732" y="283337"/>
                  </a:cubicBezTo>
                  <a:cubicBezTo>
                    <a:pt x="63500" y="283337"/>
                    <a:pt x="0" y="219964"/>
                    <a:pt x="0" y="141732"/>
                  </a:cubicBezTo>
                  <a:close/>
                </a:path>
              </a:pathLst>
            </a:custGeom>
            <a:solidFill>
              <a:srgbClr val="1B1B27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" name="Google Shape;220;p12"/>
          <p:cNvGrpSpPr/>
          <p:nvPr/>
        </p:nvGrpSpPr>
        <p:grpSpPr>
          <a:xfrm>
            <a:off x="2009480" y="5143500"/>
            <a:ext cx="15249810" cy="1720440"/>
            <a:chOff x="0" y="0"/>
            <a:chExt cx="20333081" cy="2293920"/>
          </a:xfrm>
        </p:grpSpPr>
        <p:sp>
          <p:nvSpPr>
            <p:cNvPr id="221" name="Google Shape;221;p12"/>
            <p:cNvSpPr/>
            <p:nvPr/>
          </p:nvSpPr>
          <p:spPr>
            <a:xfrm>
              <a:off x="6350" y="4779"/>
              <a:ext cx="20320381" cy="2284362"/>
            </a:xfrm>
            <a:custGeom>
              <a:avLst/>
              <a:gdLst/>
              <a:ahLst/>
              <a:cxnLst/>
              <a:rect l="l" t="t" r="r" b="b"/>
              <a:pathLst>
                <a:path w="20320381" h="2284362" extrusionOk="0">
                  <a:moveTo>
                    <a:pt x="0" y="119475"/>
                  </a:moveTo>
                  <a:cubicBezTo>
                    <a:pt x="0" y="53525"/>
                    <a:pt x="71374" y="0"/>
                    <a:pt x="159385" y="0"/>
                  </a:cubicBezTo>
                  <a:lnTo>
                    <a:pt x="20160996" y="0"/>
                  </a:lnTo>
                  <a:cubicBezTo>
                    <a:pt x="20249007" y="0"/>
                    <a:pt x="20320381" y="53525"/>
                    <a:pt x="20320381" y="119475"/>
                  </a:cubicBezTo>
                  <a:lnTo>
                    <a:pt x="20320381" y="2164887"/>
                  </a:lnTo>
                  <a:cubicBezTo>
                    <a:pt x="20320381" y="2230837"/>
                    <a:pt x="20249007" y="2284362"/>
                    <a:pt x="20160996" y="2284362"/>
                  </a:cubicBezTo>
                  <a:lnTo>
                    <a:pt x="159385" y="2284362"/>
                  </a:lnTo>
                  <a:cubicBezTo>
                    <a:pt x="71374" y="2284362"/>
                    <a:pt x="0" y="2230837"/>
                    <a:pt x="0" y="2164887"/>
                  </a:cubicBezTo>
                  <a:close/>
                </a:path>
              </a:pathLst>
            </a:custGeom>
            <a:solidFill>
              <a:srgbClr val="E1E1EA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2"/>
            <p:cNvSpPr/>
            <p:nvPr/>
          </p:nvSpPr>
          <p:spPr>
            <a:xfrm>
              <a:off x="0" y="0"/>
              <a:ext cx="20333081" cy="2293920"/>
            </a:xfrm>
            <a:custGeom>
              <a:avLst/>
              <a:gdLst/>
              <a:ahLst/>
              <a:cxnLst/>
              <a:rect l="l" t="t" r="r" b="b"/>
              <a:pathLst>
                <a:path w="20333081" h="2293920" extrusionOk="0">
                  <a:moveTo>
                    <a:pt x="0" y="124254"/>
                  </a:moveTo>
                  <a:cubicBezTo>
                    <a:pt x="0" y="55628"/>
                    <a:pt x="74168" y="0"/>
                    <a:pt x="165735" y="0"/>
                  </a:cubicBezTo>
                  <a:lnTo>
                    <a:pt x="20167346" y="0"/>
                  </a:lnTo>
                  <a:lnTo>
                    <a:pt x="20167346" y="4779"/>
                  </a:lnTo>
                  <a:lnTo>
                    <a:pt x="20167346" y="0"/>
                  </a:lnTo>
                  <a:cubicBezTo>
                    <a:pt x="20258785" y="0"/>
                    <a:pt x="20333081" y="55628"/>
                    <a:pt x="20333081" y="124254"/>
                  </a:cubicBezTo>
                  <a:lnTo>
                    <a:pt x="20326731" y="124254"/>
                  </a:lnTo>
                  <a:lnTo>
                    <a:pt x="20333081" y="124254"/>
                  </a:lnTo>
                  <a:lnTo>
                    <a:pt x="20333081" y="2169666"/>
                  </a:lnTo>
                  <a:lnTo>
                    <a:pt x="20326731" y="2169666"/>
                  </a:lnTo>
                  <a:lnTo>
                    <a:pt x="20333081" y="2169666"/>
                  </a:lnTo>
                  <a:cubicBezTo>
                    <a:pt x="20333081" y="2238293"/>
                    <a:pt x="20258912" y="2293920"/>
                    <a:pt x="20167346" y="2293920"/>
                  </a:cubicBezTo>
                  <a:lnTo>
                    <a:pt x="20167346" y="2289141"/>
                  </a:lnTo>
                  <a:lnTo>
                    <a:pt x="20167346" y="2293920"/>
                  </a:lnTo>
                  <a:lnTo>
                    <a:pt x="165735" y="2293920"/>
                  </a:lnTo>
                  <a:lnTo>
                    <a:pt x="165735" y="2289141"/>
                  </a:lnTo>
                  <a:lnTo>
                    <a:pt x="165735" y="2293920"/>
                  </a:lnTo>
                  <a:cubicBezTo>
                    <a:pt x="74168" y="2293920"/>
                    <a:pt x="0" y="2238293"/>
                    <a:pt x="0" y="2169666"/>
                  </a:cubicBezTo>
                  <a:lnTo>
                    <a:pt x="0" y="124254"/>
                  </a:lnTo>
                  <a:lnTo>
                    <a:pt x="6350" y="124254"/>
                  </a:lnTo>
                  <a:lnTo>
                    <a:pt x="0" y="124254"/>
                  </a:lnTo>
                  <a:moveTo>
                    <a:pt x="12700" y="124254"/>
                  </a:moveTo>
                  <a:lnTo>
                    <a:pt x="12700" y="2169666"/>
                  </a:lnTo>
                  <a:lnTo>
                    <a:pt x="6350" y="2169666"/>
                  </a:lnTo>
                  <a:lnTo>
                    <a:pt x="12700" y="2169666"/>
                  </a:lnTo>
                  <a:cubicBezTo>
                    <a:pt x="12700" y="2233036"/>
                    <a:pt x="81153" y="2284362"/>
                    <a:pt x="165735" y="2284362"/>
                  </a:cubicBezTo>
                  <a:lnTo>
                    <a:pt x="20167346" y="2284362"/>
                  </a:lnTo>
                  <a:cubicBezTo>
                    <a:pt x="20251801" y="2284362"/>
                    <a:pt x="20320381" y="2232940"/>
                    <a:pt x="20320381" y="2169666"/>
                  </a:cubicBezTo>
                  <a:lnTo>
                    <a:pt x="20320381" y="124254"/>
                  </a:lnTo>
                  <a:cubicBezTo>
                    <a:pt x="20320381" y="60884"/>
                    <a:pt x="20251928" y="9558"/>
                    <a:pt x="20167346" y="9558"/>
                  </a:cubicBezTo>
                  <a:lnTo>
                    <a:pt x="165735" y="9558"/>
                  </a:lnTo>
                  <a:lnTo>
                    <a:pt x="165735" y="4779"/>
                  </a:lnTo>
                  <a:lnTo>
                    <a:pt x="165735" y="9558"/>
                  </a:lnTo>
                  <a:cubicBezTo>
                    <a:pt x="81153" y="9558"/>
                    <a:pt x="12700" y="60980"/>
                    <a:pt x="12700" y="124254"/>
                  </a:cubicBezTo>
                  <a:close/>
                </a:path>
              </a:pathLst>
            </a:custGeom>
            <a:solidFill>
              <a:srgbClr val="C7C7D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3" name="Google Shape;223;p12"/>
          <p:cNvSpPr txBox="1"/>
          <p:nvPr/>
        </p:nvSpPr>
        <p:spPr>
          <a:xfrm>
            <a:off x="2348503" y="5225965"/>
            <a:ext cx="5073031" cy="439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 b="1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Apply Clustering Algorithm</a:t>
            </a:r>
            <a:endParaRPr/>
          </a:p>
        </p:txBody>
      </p:sp>
      <p:sp>
        <p:nvSpPr>
          <p:cNvPr id="224" name="Google Shape;224;p12"/>
          <p:cNvSpPr txBox="1"/>
          <p:nvPr/>
        </p:nvSpPr>
        <p:spPr>
          <a:xfrm>
            <a:off x="2348503" y="5883929"/>
            <a:ext cx="14654212" cy="4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7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Use clustering algorithm to group processes by resource usage.</a:t>
            </a:r>
            <a:endParaRPr/>
          </a:p>
        </p:txBody>
      </p:sp>
      <p:grpSp>
        <p:nvGrpSpPr>
          <p:cNvPr id="225" name="Google Shape;225;p12"/>
          <p:cNvGrpSpPr/>
          <p:nvPr/>
        </p:nvGrpSpPr>
        <p:grpSpPr>
          <a:xfrm>
            <a:off x="2085375" y="7321140"/>
            <a:ext cx="15249810" cy="1720440"/>
            <a:chOff x="0" y="0"/>
            <a:chExt cx="20333081" cy="2293920"/>
          </a:xfrm>
        </p:grpSpPr>
        <p:grpSp>
          <p:nvGrpSpPr>
            <p:cNvPr id="226" name="Google Shape;226;p12"/>
            <p:cNvGrpSpPr/>
            <p:nvPr/>
          </p:nvGrpSpPr>
          <p:grpSpPr>
            <a:xfrm>
              <a:off x="0" y="0"/>
              <a:ext cx="20333081" cy="2293920"/>
              <a:chOff x="0" y="0"/>
              <a:chExt cx="20333081" cy="2293920"/>
            </a:xfrm>
          </p:grpSpPr>
          <p:sp>
            <p:nvSpPr>
              <p:cNvPr id="227" name="Google Shape;227;p12"/>
              <p:cNvSpPr/>
              <p:nvPr/>
            </p:nvSpPr>
            <p:spPr>
              <a:xfrm>
                <a:off x="6350" y="4779"/>
                <a:ext cx="20320381" cy="2284362"/>
              </a:xfrm>
              <a:custGeom>
                <a:avLst/>
                <a:gdLst/>
                <a:ahLst/>
                <a:cxnLst/>
                <a:rect l="l" t="t" r="r" b="b"/>
                <a:pathLst>
                  <a:path w="20320381" h="2284362" extrusionOk="0">
                    <a:moveTo>
                      <a:pt x="0" y="119475"/>
                    </a:moveTo>
                    <a:cubicBezTo>
                      <a:pt x="0" y="53525"/>
                      <a:pt x="71374" y="0"/>
                      <a:pt x="159385" y="0"/>
                    </a:cubicBezTo>
                    <a:lnTo>
                      <a:pt x="20160996" y="0"/>
                    </a:lnTo>
                    <a:cubicBezTo>
                      <a:pt x="20249007" y="0"/>
                      <a:pt x="20320381" y="53525"/>
                      <a:pt x="20320381" y="119475"/>
                    </a:cubicBezTo>
                    <a:lnTo>
                      <a:pt x="20320381" y="2164887"/>
                    </a:lnTo>
                    <a:cubicBezTo>
                      <a:pt x="20320381" y="2230837"/>
                      <a:pt x="20249007" y="2284362"/>
                      <a:pt x="20160996" y="2284362"/>
                    </a:cubicBezTo>
                    <a:lnTo>
                      <a:pt x="159385" y="2284362"/>
                    </a:lnTo>
                    <a:cubicBezTo>
                      <a:pt x="71374" y="2284362"/>
                      <a:pt x="0" y="2230837"/>
                      <a:pt x="0" y="2164887"/>
                    </a:cubicBezTo>
                    <a:close/>
                  </a:path>
                </a:pathLst>
              </a:custGeom>
              <a:solidFill>
                <a:srgbClr val="E1E1EA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12"/>
              <p:cNvSpPr/>
              <p:nvPr/>
            </p:nvSpPr>
            <p:spPr>
              <a:xfrm>
                <a:off x="0" y="0"/>
                <a:ext cx="20333081" cy="2293920"/>
              </a:xfrm>
              <a:custGeom>
                <a:avLst/>
                <a:gdLst/>
                <a:ahLst/>
                <a:cxnLst/>
                <a:rect l="l" t="t" r="r" b="b"/>
                <a:pathLst>
                  <a:path w="20333081" h="2293920" extrusionOk="0">
                    <a:moveTo>
                      <a:pt x="0" y="124254"/>
                    </a:moveTo>
                    <a:cubicBezTo>
                      <a:pt x="0" y="55628"/>
                      <a:pt x="74168" y="0"/>
                      <a:pt x="165735" y="0"/>
                    </a:cubicBezTo>
                    <a:lnTo>
                      <a:pt x="20167346" y="0"/>
                    </a:lnTo>
                    <a:lnTo>
                      <a:pt x="20167346" y="4779"/>
                    </a:lnTo>
                    <a:lnTo>
                      <a:pt x="20167346" y="0"/>
                    </a:lnTo>
                    <a:cubicBezTo>
                      <a:pt x="20258785" y="0"/>
                      <a:pt x="20333081" y="55628"/>
                      <a:pt x="20333081" y="124254"/>
                    </a:cubicBezTo>
                    <a:lnTo>
                      <a:pt x="20326731" y="124254"/>
                    </a:lnTo>
                    <a:lnTo>
                      <a:pt x="20333081" y="124254"/>
                    </a:lnTo>
                    <a:lnTo>
                      <a:pt x="20333081" y="2169666"/>
                    </a:lnTo>
                    <a:lnTo>
                      <a:pt x="20326731" y="2169666"/>
                    </a:lnTo>
                    <a:lnTo>
                      <a:pt x="20333081" y="2169666"/>
                    </a:lnTo>
                    <a:cubicBezTo>
                      <a:pt x="20333081" y="2238293"/>
                      <a:pt x="20258912" y="2293920"/>
                      <a:pt x="20167346" y="2293920"/>
                    </a:cubicBezTo>
                    <a:lnTo>
                      <a:pt x="20167346" y="2289141"/>
                    </a:lnTo>
                    <a:lnTo>
                      <a:pt x="20167346" y="2293920"/>
                    </a:lnTo>
                    <a:lnTo>
                      <a:pt x="165735" y="2293920"/>
                    </a:lnTo>
                    <a:lnTo>
                      <a:pt x="165735" y="2289141"/>
                    </a:lnTo>
                    <a:lnTo>
                      <a:pt x="165735" y="2293920"/>
                    </a:lnTo>
                    <a:cubicBezTo>
                      <a:pt x="74168" y="2293920"/>
                      <a:pt x="0" y="2238293"/>
                      <a:pt x="0" y="2169666"/>
                    </a:cubicBezTo>
                    <a:lnTo>
                      <a:pt x="0" y="124254"/>
                    </a:lnTo>
                    <a:lnTo>
                      <a:pt x="6350" y="124254"/>
                    </a:lnTo>
                    <a:lnTo>
                      <a:pt x="0" y="124254"/>
                    </a:lnTo>
                    <a:moveTo>
                      <a:pt x="12700" y="124254"/>
                    </a:moveTo>
                    <a:lnTo>
                      <a:pt x="12700" y="2169666"/>
                    </a:lnTo>
                    <a:lnTo>
                      <a:pt x="6350" y="2169666"/>
                    </a:lnTo>
                    <a:lnTo>
                      <a:pt x="12700" y="2169666"/>
                    </a:lnTo>
                    <a:cubicBezTo>
                      <a:pt x="12700" y="2233036"/>
                      <a:pt x="81153" y="2284362"/>
                      <a:pt x="165735" y="2284362"/>
                    </a:cubicBezTo>
                    <a:lnTo>
                      <a:pt x="20167346" y="2284362"/>
                    </a:lnTo>
                    <a:cubicBezTo>
                      <a:pt x="20251801" y="2284362"/>
                      <a:pt x="20320381" y="2232940"/>
                      <a:pt x="20320381" y="2169666"/>
                    </a:cubicBezTo>
                    <a:lnTo>
                      <a:pt x="20320381" y="124254"/>
                    </a:lnTo>
                    <a:cubicBezTo>
                      <a:pt x="20320381" y="60884"/>
                      <a:pt x="20251928" y="9558"/>
                      <a:pt x="20167346" y="9558"/>
                    </a:cubicBezTo>
                    <a:lnTo>
                      <a:pt x="165735" y="9558"/>
                    </a:lnTo>
                    <a:lnTo>
                      <a:pt x="165735" y="4779"/>
                    </a:lnTo>
                    <a:lnTo>
                      <a:pt x="165735" y="9558"/>
                    </a:lnTo>
                    <a:cubicBezTo>
                      <a:pt x="81153" y="9558"/>
                      <a:pt x="12700" y="60980"/>
                      <a:pt x="12700" y="124254"/>
                    </a:cubicBezTo>
                    <a:close/>
                  </a:path>
                </a:pathLst>
              </a:custGeom>
              <a:solidFill>
                <a:srgbClr val="C7C7D0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9" name="Google Shape;229;p12"/>
            <p:cNvSpPr txBox="1"/>
            <p:nvPr/>
          </p:nvSpPr>
          <p:spPr>
            <a:xfrm>
              <a:off x="452031" y="119479"/>
              <a:ext cx="6019165" cy="576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50" b="1" i="0" u="none" strike="noStrike" cap="none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UI Design</a:t>
              </a:r>
              <a:endParaRPr/>
            </a:p>
          </p:txBody>
        </p:sp>
        <p:sp>
          <p:nvSpPr>
            <p:cNvPr id="230" name="Google Shape;230;p12"/>
            <p:cNvSpPr txBox="1"/>
            <p:nvPr/>
          </p:nvSpPr>
          <p:spPr>
            <a:xfrm>
              <a:off x="452031" y="1018988"/>
              <a:ext cx="1953895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28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87" b="0" i="0" u="none" strike="noStrike" cap="none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Create a presentable user interface that is intuitive and user-friendly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A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ECECF3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p1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6EA">
              <a:alpha val="89803"/>
            </a:srgbClr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p13"/>
          <p:cNvSpPr txBox="1"/>
          <p:nvPr/>
        </p:nvSpPr>
        <p:spPr>
          <a:xfrm>
            <a:off x="6292641" y="2776239"/>
            <a:ext cx="5938838" cy="1576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Thank You</a:t>
            </a:r>
            <a:endParaRPr/>
          </a:p>
        </p:txBody>
      </p:sp>
      <p:sp>
        <p:nvSpPr>
          <p:cNvPr id="238" name="Google Shape;238;p13"/>
          <p:cNvSpPr txBox="1"/>
          <p:nvPr/>
        </p:nvSpPr>
        <p:spPr>
          <a:xfrm>
            <a:off x="6565979" y="5937216"/>
            <a:ext cx="6099493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Github : https://github.com/sajibsarkar92/SPL-1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453</Words>
  <Application>Microsoft Office PowerPoint</Application>
  <PresentationFormat>Custom</PresentationFormat>
  <Paragraphs>51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Raleway</vt:lpstr>
      <vt:lpstr>Arial</vt:lpstr>
      <vt:lpstr>Roboto</vt:lpstr>
      <vt:lpstr>Marcellus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Sajib Sarkar</cp:lastModifiedBy>
  <cp:revision>1</cp:revision>
  <dcterms:created xsi:type="dcterms:W3CDTF">2006-08-16T00:00:00Z</dcterms:created>
  <dcterms:modified xsi:type="dcterms:W3CDTF">2026-01-14T22:15:09Z</dcterms:modified>
</cp:coreProperties>
</file>